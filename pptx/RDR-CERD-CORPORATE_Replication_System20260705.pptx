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98416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644851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1018233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1757001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3428636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874867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915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755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8842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652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3692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61900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6431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5673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829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5383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5654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5374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512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8190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7623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191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982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9801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2615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5308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998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874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320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9904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2735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75557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011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460560" name="Text 2"/>
          <p:cNvSpPr/>
          <p:nvPr/>
        </p:nvSpPr>
        <p:spPr bwMode="auto">
          <a:xfrm>
            <a:off x="640080" y="1783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RDR-CERD-CORPORATE</a:t>
            </a:r>
            <a:endParaRPr lang="en-US" sz="4000"/>
          </a:p>
        </p:txBody>
      </p:sp>
      <p:sp>
        <p:nvSpPr>
          <p:cNvPr id="1241870966" name="Text 3"/>
          <p:cNvSpPr/>
          <p:nvPr/>
        </p:nvSpPr>
        <p:spPr bwMode="auto">
          <a:xfrm>
            <a:off x="640080" y="245059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>
                <a:solidFill>
                  <a:srgbClr val="CADCFC"/>
                </a:solidFill>
                <a:latin typeface="Cambria"/>
                <a:ea typeface="Cambria"/>
                <a:cs typeface="Cambria"/>
              </a:rPr>
              <a:t>Replication System</a:t>
            </a:r>
            <a:endParaRPr lang="en-US" sz="2600"/>
          </a:p>
        </p:txBody>
      </p:sp>
      <p:sp>
        <p:nvSpPr>
          <p:cNvPr id="1287223012" name="Shape 4"/>
          <p:cNvSpPr/>
          <p:nvPr/>
        </p:nvSpPr>
        <p:spPr bwMode="auto">
          <a:xfrm>
            <a:off x="658368" y="3200400"/>
            <a:ext cx="128016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98920353" name="Text 5"/>
          <p:cNvSpPr/>
          <p:nvPr/>
        </p:nvSpPr>
        <p:spPr bwMode="auto">
          <a:xfrm>
            <a:off x="64008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5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Proposed architecture and roadmap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13271" name="Text 0"/>
          <p:cNvSpPr/>
          <p:nvPr/>
        </p:nvSpPr>
        <p:spPr bwMode="auto"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6251F"/>
                </a:solidFill>
                <a:latin typeface="Cambria"/>
                <a:ea typeface="Cambria"/>
                <a:cs typeface="Cambria"/>
              </a:rPr>
              <a:t>Problem statement &amp; proposed solution</a:t>
            </a:r>
            <a:endParaRPr lang="en-US" sz="2600"/>
          </a:p>
        </p:txBody>
      </p:sp>
      <p:sp>
        <p:nvSpPr>
          <p:cNvPr id="1361941013" name="Shape 1"/>
          <p:cNvSpPr/>
          <p:nvPr/>
        </p:nvSpPr>
        <p:spPr bwMode="auto">
          <a:xfrm>
            <a:off x="457200" y="1143000"/>
            <a:ext cx="384048" cy="384048"/>
          </a:xfrm>
          <a:prstGeom prst="ellipse">
            <a:avLst/>
          </a:prstGeom>
          <a:solidFill>
            <a:srgbClr val="EEEDFE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0868959" name="Text 2"/>
          <p:cNvSpPr/>
          <p:nvPr/>
        </p:nvSpPr>
        <p:spPr bwMode="auto"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26215C"/>
                </a:solidFill>
                <a:latin typeface="Calibri"/>
                <a:ea typeface="Calibri"/>
                <a:cs typeface="Calibri"/>
              </a:rPr>
              <a:t>!</a:t>
            </a:r>
            <a:endParaRPr lang="en-US" sz="1800"/>
          </a:p>
        </p:txBody>
      </p:sp>
      <p:sp>
        <p:nvSpPr>
          <p:cNvPr id="468807004" name="Text 3"/>
          <p:cNvSpPr/>
          <p:nvPr/>
        </p:nvSpPr>
        <p:spPr bwMode="auto">
          <a:xfrm>
            <a:off x="960120" y="1143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26215C"/>
                </a:solidFill>
                <a:latin typeface="Cambria"/>
                <a:ea typeface="Cambria"/>
                <a:cs typeface="Cambria"/>
              </a:rPr>
              <a:t>Problem statement</a:t>
            </a:r>
            <a:endParaRPr lang="en-US" sz="1700"/>
          </a:p>
        </p:txBody>
      </p:sp>
      <p:sp>
        <p:nvSpPr>
          <p:cNvPr id="396965610" name="Text 4"/>
          <p:cNvSpPr/>
          <p:nvPr/>
        </p:nvSpPr>
        <p:spPr bwMode="auto">
          <a:xfrm>
            <a:off x="685800" y="1627632"/>
            <a:ext cx="7863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Existing CERD-CORPORATE replication system will no longer supported</a:t>
            </a:r>
            <a:endParaRPr lang="en-US" sz="1400"/>
          </a:p>
          <a:p>
            <a:pPr marL="342900" indent="-3429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No fixes or maintenance will be available if issues arise</a:t>
            </a:r>
            <a:endParaRPr lang="en-US" sz="1400"/>
          </a:p>
          <a:p>
            <a:pPr marL="342900" indent="-3429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Critical for keeping Sybase and Oracle data in sync</a:t>
            </a:r>
            <a:endParaRPr lang="en-US" sz="1400"/>
          </a:p>
          <a:p>
            <a:pPr marL="342900" indent="-3429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A custom replication system must be built to take its place</a:t>
            </a:r>
            <a:endParaRPr lang="en-US" sz="1400"/>
          </a:p>
        </p:txBody>
      </p:sp>
      <p:sp>
        <p:nvSpPr>
          <p:cNvPr id="1143383369" name="Shape 5"/>
          <p:cNvSpPr/>
          <p:nvPr/>
        </p:nvSpPr>
        <p:spPr bwMode="auto">
          <a:xfrm>
            <a:off x="457200" y="3310127"/>
            <a:ext cx="8229600" cy="0"/>
          </a:xfrm>
          <a:prstGeom prst="line">
            <a:avLst/>
          </a:prstGeom>
          <a:noFill/>
          <a:ln w="12700">
            <a:solidFill>
              <a:srgbClr val="D3D1C7"/>
            </a:solidFill>
            <a:prstDash val="solid"/>
          </a:ln>
        </p:spPr>
      </p:sp>
      <p:sp>
        <p:nvSpPr>
          <p:cNvPr id="1855951126" name="Shape 6"/>
          <p:cNvSpPr/>
          <p:nvPr/>
        </p:nvSpPr>
        <p:spPr bwMode="auto">
          <a:xfrm>
            <a:off x="457200" y="3493008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96069770" name="Text 7"/>
          <p:cNvSpPr/>
          <p:nvPr/>
        </p:nvSpPr>
        <p:spPr bwMode="auto">
          <a:xfrm>
            <a:off x="4572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1743004020" name="Text 8"/>
          <p:cNvSpPr/>
          <p:nvPr/>
        </p:nvSpPr>
        <p:spPr bwMode="auto">
          <a:xfrm>
            <a:off x="960120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Proposed solution</a:t>
            </a:r>
            <a:endParaRPr lang="en-US" sz="1700"/>
          </a:p>
        </p:txBody>
      </p:sp>
      <p:sp>
        <p:nvSpPr>
          <p:cNvPr id="562846599" name="Text 9"/>
          <p:cNvSpPr/>
          <p:nvPr/>
        </p:nvSpPr>
        <p:spPr bwMode="auto">
          <a:xfrm>
            <a:off x="685800" y="3977640"/>
            <a:ext cx="7863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Build a custom replication system using MonetaBoot/Java</a:t>
            </a:r>
            <a:endParaRPr lang="en-US" sz="1400"/>
          </a:p>
          <a:p>
            <a:pPr marL="342900" indent="-3429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Capture changes from Sybase ASE and stage them for processing</a:t>
            </a:r>
            <a:endParaRPr lang="en-US" sz="1400"/>
          </a:p>
          <a:p>
            <a:pPr marL="342900" indent="-3429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Use DSF stored procedures to apply data into REFDBO/Oracle</a:t>
            </a:r>
            <a:endParaRPr lang="en-US" sz="1400"/>
          </a:p>
          <a:p>
            <a:pPr marL="342900" indent="-3429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Fully supportable, maintainable, and owned in-house</a:t>
            </a:r>
            <a:endParaRPr lang="en-US" sz="1400"/>
          </a:p>
          <a:p>
            <a:pPr marL="342900" indent="-3429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Designed to replace the unsupported system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430" name="Text 0"/>
          <p:cNvSpPr/>
          <p:nvPr/>
        </p:nvSpPr>
        <p:spPr bwMode="auto"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6251F"/>
                </a:solidFill>
                <a:latin typeface="Cambria"/>
                <a:ea typeface="Cambria"/>
                <a:cs typeface="Cambria"/>
              </a:rPr>
              <a:t>Technical overview</a:t>
            </a:r>
            <a:endParaRPr lang="en-US" sz="2600"/>
          </a:p>
        </p:txBody>
      </p:sp>
      <p:sp>
        <p:nvSpPr>
          <p:cNvPr id="1854901935" name="Shape 1"/>
          <p:cNvSpPr/>
          <p:nvPr/>
        </p:nvSpPr>
        <p:spPr bwMode="auto">
          <a:xfrm>
            <a:off x="457200" y="896112"/>
            <a:ext cx="2688336" cy="1417320"/>
          </a:xfrm>
          <a:prstGeom prst="roundRect">
            <a:avLst>
              <a:gd name="adj" fmla="val 5161"/>
            </a:avLst>
          </a:prstGeom>
          <a:solidFill>
            <a:srgbClr val="F1EFE8"/>
          </a:solidFill>
          <a:ln/>
          <a:effectLst>
            <a:outerShdw blurRad="88900" dist="38100" dir="2700000" sx="100000" sy="100000" kx="0" ky="0" algn="bl" rotWithShape="0">
              <a:srgbClr val="1E2761">
                <a:alpha val="12000"/>
              </a:srgbClr>
            </a:outerShdw>
          </a:effectLst>
        </p:spPr>
      </p:sp>
      <p:sp>
        <p:nvSpPr>
          <p:cNvPr id="189231903" name="Text 2"/>
          <p:cNvSpPr/>
          <p:nvPr/>
        </p:nvSpPr>
        <p:spPr bwMode="auto">
          <a:xfrm>
            <a:off x="621792" y="987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C2C2A"/>
                </a:solidFill>
                <a:latin typeface="Cambria"/>
                <a:ea typeface="Cambria"/>
                <a:cs typeface="Cambria"/>
              </a:rPr>
              <a:t>Source system</a:t>
            </a:r>
            <a:endParaRPr lang="en-US" sz="1400"/>
          </a:p>
        </p:txBody>
      </p:sp>
      <p:sp>
        <p:nvSpPr>
          <p:cNvPr id="433510802" name="Text 3"/>
          <p:cNvSpPr/>
          <p:nvPr/>
        </p:nvSpPr>
        <p:spPr bwMode="auto">
          <a:xfrm>
            <a:off x="621792" y="12618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2C2C2A"/>
                </a:solidFill>
                <a:latin typeface="Calibri"/>
                <a:ea typeface="Calibri"/>
                <a:cs typeface="Calibri"/>
              </a:rPr>
              <a:t>Sybase ASE</a:t>
            </a:r>
            <a:endParaRPr lang="en-US" sz="1150"/>
          </a:p>
        </p:txBody>
      </p:sp>
      <p:sp>
        <p:nvSpPr>
          <p:cNvPr id="1084560643" name="Text 4"/>
          <p:cNvSpPr/>
          <p:nvPr/>
        </p:nvSpPr>
        <p:spPr bwMode="auto">
          <a:xfrm>
            <a:off x="621792" y="153619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2C2C2A"/>
                </a:solidFill>
                <a:latin typeface="Calibri"/>
                <a:ea typeface="Calibri"/>
                <a:cs typeface="Calibri"/>
              </a:rPr>
              <a:t>Origin of Cerd Corp reference data</a:t>
            </a:r>
            <a:endParaRPr lang="en-US" sz="1050"/>
          </a:p>
        </p:txBody>
      </p:sp>
      <p:sp>
        <p:nvSpPr>
          <p:cNvPr id="2128695859" name="Shape 5"/>
          <p:cNvSpPr/>
          <p:nvPr/>
        </p:nvSpPr>
        <p:spPr bwMode="auto">
          <a:xfrm>
            <a:off x="3227832" y="896112"/>
            <a:ext cx="2688336" cy="1417320"/>
          </a:xfrm>
          <a:prstGeom prst="roundRect">
            <a:avLst>
              <a:gd name="adj" fmla="val 5161"/>
            </a:avLst>
          </a:prstGeom>
          <a:solidFill>
            <a:srgbClr val="EEEDFE"/>
          </a:solidFill>
          <a:ln/>
          <a:effectLst>
            <a:outerShdw blurRad="88900" dist="38100" dir="2700000" sx="100000" sy="100000" kx="0" ky="0" algn="bl" rotWithShape="0">
              <a:srgbClr val="1E2761">
                <a:alpha val="12000"/>
              </a:srgbClr>
            </a:outerShdw>
          </a:effectLst>
        </p:spPr>
      </p:sp>
      <p:sp>
        <p:nvSpPr>
          <p:cNvPr id="1482341383" name="Text 6"/>
          <p:cNvSpPr/>
          <p:nvPr/>
        </p:nvSpPr>
        <p:spPr bwMode="auto">
          <a:xfrm>
            <a:off x="3392424" y="987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6215C"/>
                </a:solidFill>
                <a:latin typeface="Cambria"/>
                <a:ea typeface="Cambria"/>
                <a:cs typeface="Cambria"/>
              </a:rPr>
              <a:t>Replication service</a:t>
            </a:r>
            <a:endParaRPr lang="en-US" sz="1400"/>
          </a:p>
        </p:txBody>
      </p:sp>
      <p:sp>
        <p:nvSpPr>
          <p:cNvPr id="1277585028" name="Text 7"/>
          <p:cNvSpPr/>
          <p:nvPr/>
        </p:nvSpPr>
        <p:spPr bwMode="auto">
          <a:xfrm>
            <a:off x="3392424" y="12618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26215C"/>
                </a:solidFill>
                <a:latin typeface="Calibri"/>
                <a:ea typeface="Calibri"/>
                <a:cs typeface="Calibri"/>
              </a:rPr>
              <a:t>MonetaBoot / Java</a:t>
            </a:r>
            <a:endParaRPr lang="en-US" sz="1150"/>
          </a:p>
        </p:txBody>
      </p:sp>
      <p:sp>
        <p:nvSpPr>
          <p:cNvPr id="475337461" name="Text 8"/>
          <p:cNvSpPr/>
          <p:nvPr/>
        </p:nvSpPr>
        <p:spPr bwMode="auto">
          <a:xfrm>
            <a:off x="3392424" y="153619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26215C"/>
                </a:solidFill>
                <a:latin typeface="Calibri"/>
                <a:ea typeface="Calibri"/>
                <a:cs typeface="Calibri"/>
              </a:rPr>
              <a:t>Captures changes, stages data</a:t>
            </a:r>
            <a:endParaRPr lang="en-US" sz="1050"/>
          </a:p>
          <a:p>
            <a:pPr marL="342900" indent="-342900">
              <a:lnSpc>
                <a:spcPct val="110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26215C"/>
                </a:solidFill>
                <a:latin typeface="Calibri"/>
                <a:ea typeface="Calibri"/>
                <a:cs typeface="Calibri"/>
              </a:rPr>
              <a:t>Owned in-house</a:t>
            </a:r>
            <a:endParaRPr lang="en-US" sz="1050"/>
          </a:p>
        </p:txBody>
      </p:sp>
      <p:sp>
        <p:nvSpPr>
          <p:cNvPr id="1650743199" name="Shape 9"/>
          <p:cNvSpPr/>
          <p:nvPr/>
        </p:nvSpPr>
        <p:spPr bwMode="auto">
          <a:xfrm>
            <a:off x="5998464" y="896112"/>
            <a:ext cx="2688336" cy="1417320"/>
          </a:xfrm>
          <a:prstGeom prst="roundRect">
            <a:avLst>
              <a:gd name="adj" fmla="val 5161"/>
            </a:avLst>
          </a:prstGeom>
          <a:solidFill>
            <a:srgbClr val="E1F5EE"/>
          </a:solidFill>
          <a:ln/>
          <a:effectLst>
            <a:outerShdw blurRad="88900" dist="38100" dir="2700000" sx="100000" sy="100000" kx="0" ky="0" algn="bl" rotWithShape="0">
              <a:srgbClr val="1E2761">
                <a:alpha val="12000"/>
              </a:srgbClr>
            </a:outerShdw>
          </a:effectLst>
        </p:spPr>
      </p:sp>
      <p:sp>
        <p:nvSpPr>
          <p:cNvPr id="111293434" name="Text 10"/>
          <p:cNvSpPr/>
          <p:nvPr/>
        </p:nvSpPr>
        <p:spPr bwMode="auto">
          <a:xfrm>
            <a:off x="6163056" y="987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85041"/>
                </a:solidFill>
                <a:latin typeface="Cambria"/>
                <a:ea typeface="Cambria"/>
                <a:cs typeface="Cambria"/>
              </a:rPr>
              <a:t>Target system</a:t>
            </a:r>
            <a:endParaRPr lang="en-US" sz="1400"/>
          </a:p>
        </p:txBody>
      </p:sp>
      <p:sp>
        <p:nvSpPr>
          <p:cNvPr id="997539826" name="Text 11"/>
          <p:cNvSpPr/>
          <p:nvPr/>
        </p:nvSpPr>
        <p:spPr bwMode="auto">
          <a:xfrm>
            <a:off x="6163056" y="12618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085041"/>
                </a:solidFill>
                <a:latin typeface="Calibri"/>
                <a:ea typeface="Calibri"/>
                <a:cs typeface="Calibri"/>
              </a:rPr>
              <a:t>REFDBO / Oracle</a:t>
            </a:r>
            <a:endParaRPr lang="en-US" sz="1150"/>
          </a:p>
        </p:txBody>
      </p:sp>
      <p:sp>
        <p:nvSpPr>
          <p:cNvPr id="1230213240" name="Text 12"/>
          <p:cNvSpPr/>
          <p:nvPr/>
        </p:nvSpPr>
        <p:spPr bwMode="auto">
          <a:xfrm>
            <a:off x="6163056" y="153619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085041"/>
                </a:solidFill>
                <a:latin typeface="Calibri"/>
                <a:ea typeface="Calibri"/>
                <a:cs typeface="Calibri"/>
              </a:rPr>
              <a:t>Applied via DSF stored procs</a:t>
            </a:r>
            <a:endParaRPr lang="en-US" sz="1050"/>
          </a:p>
          <a:p>
            <a:pPr marL="342900" indent="-342900">
              <a:lnSpc>
                <a:spcPct val="110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085041"/>
                </a:solidFill>
                <a:latin typeface="Calibri"/>
                <a:ea typeface="Calibri"/>
                <a:cs typeface="Calibri"/>
              </a:rPr>
              <a:t>8 core reference tables</a:t>
            </a:r>
            <a:endParaRPr lang="en-US" sz="1050"/>
          </a:p>
        </p:txBody>
      </p:sp>
      <p:sp>
        <p:nvSpPr>
          <p:cNvPr id="1952467826" name="Text 13"/>
          <p:cNvSpPr/>
          <p:nvPr/>
        </p:nvSpPr>
        <p:spPr bwMode="auto">
          <a:xfrm>
            <a:off x="457200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5F5E5A"/>
                </a:solidFill>
                <a:latin typeface="Cambria"/>
                <a:ea typeface="Cambria"/>
                <a:cs typeface="Cambria"/>
              </a:rPr>
              <a:t>Source-to-destination mapping</a:t>
            </a:r>
            <a:endParaRPr lang="en-US" sz="1300"/>
          </a:p>
        </p:txBody>
      </p:sp>
      <p:graphicFrame>
        <p:nvGraphicFramePr>
          <p:cNvPr id="633019183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2788920"/>
          <a:ext cx="822960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548640"/>
                <a:gridCol w="3840480"/>
                <a:gridCol w="3840480"/>
              </a:tblGrid>
              <a:tr h="23774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(CERD_CORPORATE)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Destination (REFDBO)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CERD_CORPORATE.EXCHANGE_IMNT_ALTERNATE_ID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REFDBO.EXCHANGE_IMNT_ALTERNATE_ID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CERD_CORPORATE.GRD_INSTRUMENT_EVENT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REFDBO.GRD_INSTRUMENT_EVENT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CERD_CORPORATE.LISTED_INSTRUMENT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REFDBO.LISTED_INSTRUMENT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CERD_CORPORATE.INSTRUMENT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REFDBO.INSTRUMENT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CERD_CORPORATE.IR_INSTRUMENT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REFDBO.IR_INSTRUMENT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CERD_CORPORATE.IR_INSTRUMENT_FLAG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REFDBO.IR_INSTRUMENT_FLAG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CERD_CORPORATE.CODE_VALUES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REFDBO.CODE_VALUES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CERD_CORPORATE.INSTRUMENT_LINK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REFDBO.INSTRUMENT_LINK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171708" name="Text 0"/>
          <p:cNvSpPr/>
          <p:nvPr/>
        </p:nvSpPr>
        <p:spPr bwMode="auto"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6251F"/>
                </a:solidFill>
                <a:latin typeface="Cambria"/>
                <a:ea typeface="Cambria"/>
                <a:cs typeface="Cambria"/>
              </a:rPr>
              <a:t>Existing replication system</a:t>
            </a:r>
            <a:endParaRPr lang="en-US" sz="2600"/>
          </a:p>
        </p:txBody>
      </p:sp>
      <p:sp>
        <p:nvSpPr>
          <p:cNvPr id="1023988667" name="Shape 3"/>
          <p:cNvSpPr/>
          <p:nvPr/>
        </p:nvSpPr>
        <p:spPr bwMode="auto">
          <a:xfrm>
            <a:off x="365760" y="777240"/>
            <a:ext cx="251460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185FA5"/>
            </a:solidFill>
            <a:prstDash val="dash"/>
          </a:ln>
        </p:spPr>
      </p:sp>
      <p:sp>
        <p:nvSpPr>
          <p:cNvPr id="1842869221" name="Text 4"/>
          <p:cNvSpPr/>
          <p:nvPr/>
        </p:nvSpPr>
        <p:spPr bwMode="auto">
          <a:xfrm>
            <a:off x="365760" y="8503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185FA5"/>
                </a:solidFill>
                <a:latin typeface="Cambria"/>
                <a:ea typeface="Cambria"/>
                <a:cs typeface="Cambria"/>
              </a:rPr>
              <a:t>Source DB</a:t>
            </a:r>
            <a:endParaRPr lang="en-US" sz="1250"/>
          </a:p>
        </p:txBody>
      </p:sp>
      <p:sp>
        <p:nvSpPr>
          <p:cNvPr id="1440263447" name="Shape 5"/>
          <p:cNvSpPr/>
          <p:nvPr/>
        </p:nvSpPr>
        <p:spPr bwMode="auto">
          <a:xfrm>
            <a:off x="3200400" y="777240"/>
            <a:ext cx="2514600" cy="3291840"/>
          </a:xfrm>
          <a:prstGeom prst="rect">
            <a:avLst/>
          </a:prstGeom>
          <a:solidFill>
            <a:srgbClr val="FBFAFE"/>
          </a:solidFill>
          <a:ln w="12700">
            <a:solidFill>
              <a:srgbClr val="3C3489"/>
            </a:solidFill>
            <a:prstDash val="dash"/>
          </a:ln>
        </p:spPr>
      </p:sp>
      <p:sp>
        <p:nvSpPr>
          <p:cNvPr id="524776570" name="Text 6"/>
          <p:cNvSpPr/>
          <p:nvPr/>
        </p:nvSpPr>
        <p:spPr bwMode="auto">
          <a:xfrm>
            <a:off x="3200400" y="8503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3C3489"/>
                </a:solidFill>
                <a:latin typeface="Cambria"/>
                <a:ea typeface="Cambria"/>
                <a:cs typeface="Cambria"/>
              </a:rPr>
              <a:t>Replication agent</a:t>
            </a:r>
            <a:endParaRPr lang="en-US" sz="1250"/>
          </a:p>
        </p:txBody>
      </p:sp>
      <p:sp>
        <p:nvSpPr>
          <p:cNvPr id="94334091" name="Shape 7"/>
          <p:cNvSpPr/>
          <p:nvPr/>
        </p:nvSpPr>
        <p:spPr bwMode="auto">
          <a:xfrm>
            <a:off x="6035039" y="777240"/>
            <a:ext cx="2514600" cy="3291840"/>
          </a:xfrm>
          <a:prstGeom prst="rect">
            <a:avLst/>
          </a:prstGeom>
          <a:solidFill>
            <a:srgbClr val="FEFAF9"/>
          </a:solidFill>
          <a:ln w="12700">
            <a:solidFill>
              <a:srgbClr val="993C1D"/>
            </a:solidFill>
            <a:prstDash val="dash"/>
          </a:ln>
        </p:spPr>
      </p:sp>
      <p:sp>
        <p:nvSpPr>
          <p:cNvPr id="911401296" name="Text 8"/>
          <p:cNvSpPr/>
          <p:nvPr/>
        </p:nvSpPr>
        <p:spPr bwMode="auto">
          <a:xfrm>
            <a:off x="6035039" y="8503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993C1D"/>
                </a:solidFill>
                <a:latin typeface="Cambria"/>
                <a:ea typeface="Cambria"/>
                <a:cs typeface="Cambria"/>
              </a:rPr>
              <a:t>Target DB</a:t>
            </a:r>
            <a:endParaRPr lang="en-US" sz="1250"/>
          </a:p>
        </p:txBody>
      </p:sp>
      <p:sp>
        <p:nvSpPr>
          <p:cNvPr id="1457475452" name="Shape 9"/>
          <p:cNvSpPr/>
          <p:nvPr/>
        </p:nvSpPr>
        <p:spPr bwMode="auto">
          <a:xfrm>
            <a:off x="502920" y="1097280"/>
            <a:ext cx="2240280" cy="685800"/>
          </a:xfrm>
          <a:prstGeom prst="roundRect">
            <a:avLst>
              <a:gd name="adj" fmla="val 6667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23626721" name="Text 10"/>
          <p:cNvSpPr/>
          <p:nvPr/>
        </p:nvSpPr>
        <p:spPr bwMode="auto">
          <a:xfrm>
            <a:off x="502920" y="1289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042C53"/>
                </a:solidFill>
                <a:latin typeface="Cambria"/>
                <a:ea typeface="Cambria"/>
                <a:cs typeface="Cambria"/>
              </a:rPr>
              <a:t>Sybase ASE</a:t>
            </a:r>
            <a:endParaRPr lang="en-US" sz="1250"/>
          </a:p>
        </p:txBody>
      </p:sp>
      <p:sp>
        <p:nvSpPr>
          <p:cNvPr id="528274784" name="Text 11"/>
          <p:cNvSpPr/>
          <p:nvPr/>
        </p:nvSpPr>
        <p:spPr bwMode="auto">
          <a:xfrm>
            <a:off x="502920" y="15636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042C53"/>
                </a:solidFill>
                <a:latin typeface="Calibri"/>
                <a:ea typeface="Calibri"/>
                <a:cs typeface="Calibri"/>
              </a:rPr>
              <a:t>Source database</a:t>
            </a:r>
            <a:endParaRPr lang="en-US" sz="1000"/>
          </a:p>
        </p:txBody>
      </p:sp>
      <p:sp>
        <p:nvSpPr>
          <p:cNvPr id="588508356" name="Shape 12"/>
          <p:cNvSpPr/>
          <p:nvPr/>
        </p:nvSpPr>
        <p:spPr bwMode="auto">
          <a:xfrm>
            <a:off x="502920" y="2084832"/>
            <a:ext cx="2240280" cy="685800"/>
          </a:xfrm>
          <a:prstGeom prst="roundRect">
            <a:avLst>
              <a:gd name="adj" fmla="val 6667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319229276" name="Text 13"/>
          <p:cNvSpPr/>
          <p:nvPr/>
        </p:nvSpPr>
        <p:spPr bwMode="auto">
          <a:xfrm>
            <a:off x="502920" y="22768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173404"/>
                </a:solidFill>
                <a:latin typeface="Cambria"/>
                <a:ea typeface="Cambria"/>
                <a:cs typeface="Cambria"/>
              </a:rPr>
              <a:t>Transaction log</a:t>
            </a:r>
            <a:endParaRPr lang="en-US" sz="1250"/>
          </a:p>
        </p:txBody>
      </p:sp>
      <p:sp>
        <p:nvSpPr>
          <p:cNvPr id="1146906786" name="Text 14"/>
          <p:cNvSpPr/>
          <p:nvPr/>
        </p:nvSpPr>
        <p:spPr bwMode="auto">
          <a:xfrm>
            <a:off x="502920" y="25511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173404"/>
                </a:solidFill>
                <a:latin typeface="Calibri"/>
                <a:ea typeface="Calibri"/>
                <a:cs typeface="Calibri"/>
              </a:rPr>
              <a:t>syslogs table</a:t>
            </a:r>
            <a:endParaRPr lang="en-US" sz="1000"/>
          </a:p>
        </p:txBody>
      </p:sp>
      <p:sp>
        <p:nvSpPr>
          <p:cNvPr id="640123098" name="Shape 15"/>
          <p:cNvSpPr/>
          <p:nvPr/>
        </p:nvSpPr>
        <p:spPr bwMode="auto">
          <a:xfrm>
            <a:off x="502920" y="3072384"/>
            <a:ext cx="2240280" cy="685800"/>
          </a:xfrm>
          <a:prstGeom prst="roundRect">
            <a:avLst>
              <a:gd name="adj" fmla="val 6667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283097223" name="Text 16"/>
          <p:cNvSpPr/>
          <p:nvPr/>
        </p:nvSpPr>
        <p:spPr bwMode="auto">
          <a:xfrm>
            <a:off x="502920" y="32644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173404"/>
                </a:solidFill>
                <a:latin typeface="Cambria"/>
                <a:ea typeface="Cambria"/>
                <a:cs typeface="Cambria"/>
              </a:rPr>
              <a:t>Log reader / CDC</a:t>
            </a:r>
            <a:endParaRPr lang="en-US" sz="1250"/>
          </a:p>
        </p:txBody>
      </p:sp>
      <p:sp>
        <p:nvSpPr>
          <p:cNvPr id="1236272807" name="Text 17"/>
          <p:cNvSpPr/>
          <p:nvPr/>
        </p:nvSpPr>
        <p:spPr bwMode="auto">
          <a:xfrm>
            <a:off x="502920" y="3538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173404"/>
                </a:solidFill>
                <a:latin typeface="Calibri"/>
                <a:ea typeface="Calibri"/>
                <a:cs typeface="Calibri"/>
              </a:rPr>
              <a:t>Change data capture</a:t>
            </a:r>
            <a:endParaRPr lang="en-US" sz="1000"/>
          </a:p>
        </p:txBody>
      </p:sp>
      <p:sp>
        <p:nvSpPr>
          <p:cNvPr id="1182835602" name="Shape 18"/>
          <p:cNvSpPr/>
          <p:nvPr/>
        </p:nvSpPr>
        <p:spPr bwMode="auto">
          <a:xfrm>
            <a:off x="1623060" y="1783080"/>
            <a:ext cx="0" cy="301752"/>
          </a:xfrm>
          <a:prstGeom prst="line">
            <a:avLst/>
          </a:prstGeom>
          <a:noFill/>
          <a:ln w="15875">
            <a:solidFill>
              <a:srgbClr val="3B6D11"/>
            </a:solidFill>
            <a:prstDash val="solid"/>
            <a:tailEnd type="triangle"/>
          </a:ln>
        </p:spPr>
      </p:sp>
      <p:sp>
        <p:nvSpPr>
          <p:cNvPr id="1890718298" name="Text 19"/>
          <p:cNvSpPr/>
          <p:nvPr/>
        </p:nvSpPr>
        <p:spPr bwMode="auto">
          <a:xfrm>
            <a:off x="1714500" y="1801367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5F5E5A"/>
                </a:solidFill>
                <a:latin typeface="Calibri"/>
                <a:ea typeface="Calibri"/>
                <a:cs typeface="Calibri"/>
              </a:rPr>
              <a:t>writes</a:t>
            </a:r>
            <a:endParaRPr lang="en-US" sz="900"/>
          </a:p>
        </p:txBody>
      </p:sp>
      <p:sp>
        <p:nvSpPr>
          <p:cNvPr id="1263908834" name="Shape 20"/>
          <p:cNvSpPr/>
          <p:nvPr/>
        </p:nvSpPr>
        <p:spPr bwMode="auto">
          <a:xfrm>
            <a:off x="1623060" y="2770632"/>
            <a:ext cx="0" cy="301752"/>
          </a:xfrm>
          <a:prstGeom prst="line">
            <a:avLst/>
          </a:prstGeom>
          <a:noFill/>
          <a:ln w="15875">
            <a:solidFill>
              <a:srgbClr val="3B6D11"/>
            </a:solidFill>
            <a:prstDash val="solid"/>
            <a:tailEnd type="triangle"/>
          </a:ln>
        </p:spPr>
      </p:sp>
      <p:sp>
        <p:nvSpPr>
          <p:cNvPr id="1851088062" name="Text 21"/>
          <p:cNvSpPr/>
          <p:nvPr/>
        </p:nvSpPr>
        <p:spPr bwMode="auto">
          <a:xfrm>
            <a:off x="1714500" y="2788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5F5E5A"/>
                </a:solidFill>
                <a:latin typeface="Calibri"/>
                <a:ea typeface="Calibri"/>
                <a:cs typeface="Calibri"/>
              </a:rPr>
              <a:t>captures</a:t>
            </a:r>
            <a:endParaRPr lang="en-US" sz="900"/>
          </a:p>
        </p:txBody>
      </p:sp>
      <p:sp>
        <p:nvSpPr>
          <p:cNvPr id="2027624038" name="Shape 22"/>
          <p:cNvSpPr/>
          <p:nvPr/>
        </p:nvSpPr>
        <p:spPr bwMode="auto">
          <a:xfrm>
            <a:off x="3337560" y="1097280"/>
            <a:ext cx="2240280" cy="2660904"/>
          </a:xfrm>
          <a:prstGeom prst="roundRect">
            <a:avLst>
              <a:gd name="adj" fmla="val 2041"/>
            </a:avLst>
          </a:prstGeom>
          <a:solidFill>
            <a:srgbClr val="EEEDFE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045017996" name="Text 23"/>
          <p:cNvSpPr/>
          <p:nvPr/>
        </p:nvSpPr>
        <p:spPr bwMode="auto">
          <a:xfrm>
            <a:off x="3337560" y="184233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26215C"/>
                </a:solidFill>
                <a:latin typeface="Cambria"/>
                <a:ea typeface="Cambria"/>
                <a:cs typeface="Cambria"/>
              </a:rPr>
              <a:t>Replication agent</a:t>
            </a:r>
            <a:endParaRPr lang="en-US" sz="1250"/>
          </a:p>
        </p:txBody>
      </p:sp>
      <p:sp>
        <p:nvSpPr>
          <p:cNvPr id="479469956" name="Text 24"/>
          <p:cNvSpPr/>
          <p:nvPr/>
        </p:nvSpPr>
        <p:spPr bwMode="auto">
          <a:xfrm>
            <a:off x="3337560" y="2116653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26215C"/>
                </a:solidFill>
                <a:latin typeface="Calibri"/>
                <a:ea typeface="Calibri"/>
                <a:cs typeface="Calibri"/>
              </a:rPr>
              <a:t>Transform &amp; route changes</a:t>
            </a:r>
            <a:endParaRPr lang="en-US" sz="1000"/>
          </a:p>
        </p:txBody>
      </p:sp>
      <p:sp>
        <p:nvSpPr>
          <p:cNvPr id="1538385446" name="Shape 25"/>
          <p:cNvSpPr/>
          <p:nvPr/>
        </p:nvSpPr>
        <p:spPr bwMode="auto">
          <a:xfrm>
            <a:off x="6172200" y="1097280"/>
            <a:ext cx="2240280" cy="2660904"/>
          </a:xfrm>
          <a:prstGeom prst="roundRect">
            <a:avLst>
              <a:gd name="adj" fmla="val 2041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987774351" name="Text 26"/>
          <p:cNvSpPr/>
          <p:nvPr/>
        </p:nvSpPr>
        <p:spPr bwMode="auto">
          <a:xfrm>
            <a:off x="6172200" y="184233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4A1B0C"/>
                </a:solidFill>
                <a:latin typeface="Cambria"/>
                <a:ea typeface="Cambria"/>
                <a:cs typeface="Cambria"/>
              </a:rPr>
              <a:t>Oracle DB</a:t>
            </a:r>
            <a:endParaRPr lang="en-US" sz="1250"/>
          </a:p>
        </p:txBody>
      </p:sp>
      <p:sp>
        <p:nvSpPr>
          <p:cNvPr id="304752273" name="Text 27"/>
          <p:cNvSpPr/>
          <p:nvPr/>
        </p:nvSpPr>
        <p:spPr bwMode="auto">
          <a:xfrm>
            <a:off x="6172200" y="2116653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4A1B0C"/>
                </a:solidFill>
                <a:latin typeface="Calibri"/>
                <a:ea typeface="Calibri"/>
                <a:cs typeface="Calibri"/>
              </a:rPr>
              <a:t>Target database</a:t>
            </a:r>
            <a:endParaRPr lang="en-US" sz="1000"/>
          </a:p>
        </p:txBody>
      </p:sp>
      <p:sp>
        <p:nvSpPr>
          <p:cNvPr id="2026732479" name="Shape 28"/>
          <p:cNvSpPr/>
          <p:nvPr/>
        </p:nvSpPr>
        <p:spPr bwMode="auto">
          <a:xfrm>
            <a:off x="2743200" y="3415284"/>
            <a:ext cx="594360" cy="0"/>
          </a:xfrm>
          <a:prstGeom prst="line">
            <a:avLst/>
          </a:prstGeom>
          <a:noFill/>
          <a:ln w="15875">
            <a:solidFill>
              <a:srgbClr val="3C3489"/>
            </a:solidFill>
            <a:prstDash val="solid"/>
            <a:tailEnd type="triangle"/>
          </a:ln>
        </p:spPr>
      </p:sp>
      <p:sp>
        <p:nvSpPr>
          <p:cNvPr id="828181999" name="Text 29"/>
          <p:cNvSpPr/>
          <p:nvPr/>
        </p:nvSpPr>
        <p:spPr bwMode="auto">
          <a:xfrm>
            <a:off x="2788920" y="31226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5F5E5A"/>
                </a:solidFill>
                <a:latin typeface="Calibri"/>
                <a:ea typeface="Calibri"/>
                <a:cs typeface="Calibri"/>
              </a:rPr>
              <a:t>forwards</a:t>
            </a:r>
            <a:endParaRPr lang="en-US" sz="900"/>
          </a:p>
        </p:txBody>
      </p:sp>
      <p:sp>
        <p:nvSpPr>
          <p:cNvPr id="2120412745" name="Shape 30"/>
          <p:cNvSpPr/>
          <p:nvPr/>
        </p:nvSpPr>
        <p:spPr bwMode="auto">
          <a:xfrm>
            <a:off x="5577840" y="2560777"/>
            <a:ext cx="594360" cy="0"/>
          </a:xfrm>
          <a:prstGeom prst="line">
            <a:avLst/>
          </a:prstGeom>
          <a:noFill/>
          <a:ln w="15875">
            <a:solidFill>
              <a:srgbClr val="993C1D"/>
            </a:solidFill>
            <a:prstDash val="solid"/>
            <a:tailEnd type="triangle"/>
          </a:ln>
        </p:spPr>
      </p:sp>
      <p:sp>
        <p:nvSpPr>
          <p:cNvPr id="1945846630" name="Text 31"/>
          <p:cNvSpPr/>
          <p:nvPr/>
        </p:nvSpPr>
        <p:spPr bwMode="auto">
          <a:xfrm>
            <a:off x="5623560" y="2268169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5F5E5A"/>
                </a:solidFill>
                <a:latin typeface="Calibri"/>
                <a:ea typeface="Calibri"/>
                <a:cs typeface="Calibri"/>
              </a:rPr>
              <a:t>applies</a:t>
            </a:r>
            <a:endParaRPr lang="en-US" sz="900"/>
          </a:p>
        </p:txBody>
      </p:sp>
      <p:sp>
        <p:nvSpPr>
          <p:cNvPr id="1635249088" name="Shape 32"/>
          <p:cNvSpPr/>
          <p:nvPr/>
        </p:nvSpPr>
        <p:spPr bwMode="auto">
          <a:xfrm>
            <a:off x="502920" y="4251960"/>
            <a:ext cx="201168" cy="201168"/>
          </a:xfrm>
          <a:prstGeom prst="rect">
            <a:avLst/>
          </a:prstGeom>
          <a:solidFill>
            <a:srgbClr val="E6F1FB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525142989" name="Text 33"/>
          <p:cNvSpPr/>
          <p:nvPr/>
        </p:nvSpPr>
        <p:spPr bwMode="auto">
          <a:xfrm>
            <a:off x="77724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F5E5A"/>
                </a:solidFill>
                <a:latin typeface="Calibri"/>
                <a:ea typeface="Calibri"/>
                <a:cs typeface="Calibri"/>
              </a:rPr>
              <a:t>Source (Sybase)</a:t>
            </a:r>
            <a:endParaRPr lang="en-US" sz="1050"/>
          </a:p>
        </p:txBody>
      </p:sp>
      <p:sp>
        <p:nvSpPr>
          <p:cNvPr id="1662538169" name="Shape 34"/>
          <p:cNvSpPr/>
          <p:nvPr/>
        </p:nvSpPr>
        <p:spPr bwMode="auto">
          <a:xfrm>
            <a:off x="2331720" y="4251960"/>
            <a:ext cx="201168" cy="201168"/>
          </a:xfrm>
          <a:prstGeom prst="rect">
            <a:avLst/>
          </a:prstGeom>
          <a:solidFill>
            <a:srgbClr val="EAF3DE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701689728" name="Text 35"/>
          <p:cNvSpPr/>
          <p:nvPr/>
        </p:nvSpPr>
        <p:spPr bwMode="auto">
          <a:xfrm>
            <a:off x="260604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F5E5A"/>
                </a:solidFill>
                <a:latin typeface="Calibri"/>
                <a:ea typeface="Calibri"/>
                <a:cs typeface="Calibri"/>
              </a:rPr>
              <a:t>Log &amp; CDC</a:t>
            </a:r>
            <a:endParaRPr lang="en-US" sz="1050"/>
          </a:p>
        </p:txBody>
      </p:sp>
      <p:sp>
        <p:nvSpPr>
          <p:cNvPr id="463065581" name="Shape 36"/>
          <p:cNvSpPr/>
          <p:nvPr/>
        </p:nvSpPr>
        <p:spPr bwMode="auto">
          <a:xfrm>
            <a:off x="4343400" y="4251960"/>
            <a:ext cx="201168" cy="201168"/>
          </a:xfrm>
          <a:prstGeom prst="rect">
            <a:avLst/>
          </a:prstGeom>
          <a:solidFill>
            <a:srgbClr val="EEEDFE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874709499" name="Text 37"/>
          <p:cNvSpPr/>
          <p:nvPr/>
        </p:nvSpPr>
        <p:spPr bwMode="auto">
          <a:xfrm>
            <a:off x="461772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F5E5A"/>
                </a:solidFill>
                <a:latin typeface="Calibri"/>
                <a:ea typeface="Calibri"/>
                <a:cs typeface="Calibri"/>
              </a:rPr>
              <a:t>Replication agent</a:t>
            </a:r>
            <a:endParaRPr lang="en-US" sz="1050"/>
          </a:p>
        </p:txBody>
      </p:sp>
      <p:sp>
        <p:nvSpPr>
          <p:cNvPr id="990852971" name="Shape 38"/>
          <p:cNvSpPr/>
          <p:nvPr/>
        </p:nvSpPr>
        <p:spPr bwMode="auto">
          <a:xfrm>
            <a:off x="6720840" y="4251960"/>
            <a:ext cx="201168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714282162" name="Text 39"/>
          <p:cNvSpPr/>
          <p:nvPr/>
        </p:nvSpPr>
        <p:spPr bwMode="auto">
          <a:xfrm>
            <a:off x="699516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F5E5A"/>
                </a:solidFill>
                <a:latin typeface="Calibri"/>
                <a:ea typeface="Calibri"/>
                <a:cs typeface="Calibri"/>
              </a:rPr>
              <a:t>Target (Oracle)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38959" name="Text 0"/>
          <p:cNvSpPr/>
          <p:nvPr/>
        </p:nvSpPr>
        <p:spPr bwMode="auto"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6251F"/>
                </a:solidFill>
                <a:latin typeface="Cambria"/>
                <a:ea typeface="Cambria"/>
                <a:cs typeface="Cambria"/>
              </a:rPr>
              <a:t>Proposed architecture</a:t>
            </a:r>
            <a:endParaRPr lang="en-US" sz="2600"/>
          </a:p>
        </p:txBody>
      </p:sp>
      <p:sp>
        <p:nvSpPr>
          <p:cNvPr id="159160313" name="Shape 1"/>
          <p:cNvSpPr/>
          <p:nvPr/>
        </p:nvSpPr>
        <p:spPr bwMode="auto">
          <a:xfrm>
            <a:off x="2331720" y="9601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0817165" name="Text 2"/>
          <p:cNvSpPr/>
          <p:nvPr/>
        </p:nvSpPr>
        <p:spPr bwMode="auto">
          <a:xfrm>
            <a:off x="2331720" y="960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Sysbase Database</a:t>
            </a:r>
            <a:endParaRPr lang="en-US" sz="1300"/>
          </a:p>
        </p:txBody>
      </p:sp>
      <p:sp>
        <p:nvSpPr>
          <p:cNvPr id="1387718356" name="Shape 3"/>
          <p:cNvSpPr/>
          <p:nvPr/>
        </p:nvSpPr>
        <p:spPr bwMode="auto">
          <a:xfrm>
            <a:off x="457200" y="233172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96081120" name="Text 4"/>
          <p:cNvSpPr/>
          <p:nvPr/>
        </p:nvSpPr>
        <p:spPr bwMode="auto">
          <a:xfrm>
            <a:off x="457200" y="23317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2C2C2A"/>
                </a:solidFill>
                <a:latin typeface="Cambria"/>
                <a:ea typeface="Cambria"/>
                <a:cs typeface="Cambria"/>
              </a:rPr>
              <a:t>Autosys</a:t>
            </a:r>
            <a:endParaRPr lang="en-US" sz="1300"/>
          </a:p>
        </p:txBody>
      </p:sp>
      <p:sp>
        <p:nvSpPr>
          <p:cNvPr id="445425335" name="Shape 5"/>
          <p:cNvSpPr/>
          <p:nvPr/>
        </p:nvSpPr>
        <p:spPr bwMode="auto">
          <a:xfrm>
            <a:off x="2331720" y="23317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EEEDFE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985687715" name="Text 6"/>
          <p:cNvSpPr/>
          <p:nvPr/>
        </p:nvSpPr>
        <p:spPr bwMode="auto">
          <a:xfrm>
            <a:off x="233172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26215C"/>
                </a:solidFill>
                <a:latin typeface="Cambria"/>
                <a:ea typeface="Cambria"/>
                <a:cs typeface="Cambria"/>
              </a:rPr>
              <a:t>MonetaBoot/Java</a:t>
            </a:r>
            <a:endParaRPr lang="en-US" sz="1250"/>
          </a:p>
        </p:txBody>
      </p:sp>
      <p:sp>
        <p:nvSpPr>
          <p:cNvPr id="1153479691" name="Text 7"/>
          <p:cNvSpPr/>
          <p:nvPr/>
        </p:nvSpPr>
        <p:spPr bwMode="auto">
          <a:xfrm>
            <a:off x="2331720" y="2752343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26215C"/>
                </a:solidFill>
                <a:latin typeface="Calibri"/>
                <a:ea typeface="Calibri"/>
                <a:cs typeface="Calibri"/>
              </a:rPr>
              <a:t>Application</a:t>
            </a:r>
            <a:endParaRPr lang="en-US" sz="1050"/>
          </a:p>
        </p:txBody>
      </p:sp>
      <p:sp>
        <p:nvSpPr>
          <p:cNvPr id="1703718310" name="Shape 8"/>
          <p:cNvSpPr/>
          <p:nvPr/>
        </p:nvSpPr>
        <p:spPr bwMode="auto">
          <a:xfrm>
            <a:off x="4617720" y="233172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72227216" name="Text 9"/>
          <p:cNvSpPr/>
          <p:nvPr/>
        </p:nvSpPr>
        <p:spPr bwMode="auto">
          <a:xfrm>
            <a:off x="461772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085041"/>
                </a:solidFill>
                <a:latin typeface="Cambria"/>
                <a:ea typeface="Cambria"/>
                <a:cs typeface="Cambria"/>
              </a:rPr>
              <a:t>Staging table</a:t>
            </a:r>
            <a:endParaRPr lang="en-US" sz="1250"/>
          </a:p>
        </p:txBody>
      </p:sp>
      <p:sp>
        <p:nvSpPr>
          <p:cNvPr id="2052821577" name="Text 10"/>
          <p:cNvSpPr/>
          <p:nvPr/>
        </p:nvSpPr>
        <p:spPr bwMode="auto">
          <a:xfrm>
            <a:off x="4617720" y="2752343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085041"/>
                </a:solidFill>
                <a:latin typeface="Calibri"/>
                <a:ea typeface="Calibri"/>
                <a:cs typeface="Calibri"/>
              </a:rPr>
              <a:t>(FRWRDR)</a:t>
            </a:r>
            <a:endParaRPr lang="en-US" sz="1050"/>
          </a:p>
        </p:txBody>
      </p:sp>
      <p:sp>
        <p:nvSpPr>
          <p:cNvPr id="1226086975" name="Shape 11"/>
          <p:cNvSpPr/>
          <p:nvPr/>
        </p:nvSpPr>
        <p:spPr bwMode="auto">
          <a:xfrm>
            <a:off x="2331720" y="370332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822856345" name="Text 12"/>
          <p:cNvSpPr/>
          <p:nvPr/>
        </p:nvSpPr>
        <p:spPr bwMode="auto">
          <a:xfrm>
            <a:off x="2331720" y="3822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4A1B0C"/>
                </a:solidFill>
                <a:latin typeface="Cambria"/>
                <a:ea typeface="Cambria"/>
                <a:cs typeface="Cambria"/>
              </a:rPr>
              <a:t>DSF Stored</a:t>
            </a:r>
            <a:endParaRPr lang="en-US" sz="1250"/>
          </a:p>
        </p:txBody>
      </p:sp>
      <p:sp>
        <p:nvSpPr>
          <p:cNvPr id="335018013" name="Text 13"/>
          <p:cNvSpPr/>
          <p:nvPr/>
        </p:nvSpPr>
        <p:spPr bwMode="auto">
          <a:xfrm>
            <a:off x="2331720" y="41239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4A1B0C"/>
                </a:solidFill>
                <a:latin typeface="Calibri"/>
                <a:ea typeface="Calibri"/>
                <a:cs typeface="Calibri"/>
              </a:rPr>
              <a:t>Procedures</a:t>
            </a:r>
            <a:endParaRPr lang="en-US" sz="1050"/>
          </a:p>
        </p:txBody>
      </p:sp>
      <p:sp>
        <p:nvSpPr>
          <p:cNvPr id="1700611875" name="Shape 14"/>
          <p:cNvSpPr/>
          <p:nvPr/>
        </p:nvSpPr>
        <p:spPr bwMode="auto">
          <a:xfrm>
            <a:off x="4937760" y="370332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918651" name="Text 15"/>
          <p:cNvSpPr/>
          <p:nvPr/>
        </p:nvSpPr>
        <p:spPr bwMode="auto">
          <a:xfrm>
            <a:off x="4937760" y="37033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REFDBO</a:t>
            </a:r>
            <a:endParaRPr lang="en-US" sz="1300"/>
          </a:p>
        </p:txBody>
      </p:sp>
      <p:sp>
        <p:nvSpPr>
          <p:cNvPr id="117231451" name="Shape 16"/>
          <p:cNvSpPr/>
          <p:nvPr/>
        </p:nvSpPr>
        <p:spPr bwMode="auto">
          <a:xfrm>
            <a:off x="1874520" y="2720340"/>
            <a:ext cx="45720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556646997" name="Shape 17"/>
          <p:cNvSpPr/>
          <p:nvPr/>
        </p:nvSpPr>
        <p:spPr bwMode="auto">
          <a:xfrm>
            <a:off x="3246120" y="2331720"/>
            <a:ext cx="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41921961" name="Shape 18"/>
          <p:cNvSpPr/>
          <p:nvPr/>
        </p:nvSpPr>
        <p:spPr bwMode="auto">
          <a:xfrm>
            <a:off x="4160519" y="2720340"/>
            <a:ext cx="45720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54525059" name="Shape 19"/>
          <p:cNvSpPr/>
          <p:nvPr/>
        </p:nvSpPr>
        <p:spPr bwMode="auto">
          <a:xfrm>
            <a:off x="3246120" y="3108960"/>
            <a:ext cx="0" cy="59436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82248764" name="Shape 20"/>
          <p:cNvSpPr/>
          <p:nvPr/>
        </p:nvSpPr>
        <p:spPr bwMode="auto">
          <a:xfrm>
            <a:off x="4480560" y="4091940"/>
            <a:ext cx="45720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18381422" name="Shape 21"/>
          <p:cNvSpPr/>
          <p:nvPr/>
        </p:nvSpPr>
        <p:spPr bwMode="auto">
          <a:xfrm>
            <a:off x="1993392" y="25740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71729537" name="Text 22"/>
          <p:cNvSpPr/>
          <p:nvPr/>
        </p:nvSpPr>
        <p:spPr bwMode="auto">
          <a:xfrm>
            <a:off x="1993392" y="25740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200"/>
          </a:p>
        </p:txBody>
      </p:sp>
      <p:sp>
        <p:nvSpPr>
          <p:cNvPr id="675558682" name="Shape 23"/>
          <p:cNvSpPr/>
          <p:nvPr/>
        </p:nvSpPr>
        <p:spPr bwMode="auto">
          <a:xfrm>
            <a:off x="3099816" y="190195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48778643" name="Text 24"/>
          <p:cNvSpPr/>
          <p:nvPr/>
        </p:nvSpPr>
        <p:spPr bwMode="auto">
          <a:xfrm>
            <a:off x="309981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200"/>
          </a:p>
        </p:txBody>
      </p:sp>
      <p:sp>
        <p:nvSpPr>
          <p:cNvPr id="2112369631" name="Shape 25"/>
          <p:cNvSpPr/>
          <p:nvPr/>
        </p:nvSpPr>
        <p:spPr bwMode="auto">
          <a:xfrm>
            <a:off x="4279392" y="25740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82410483" name="Text 26"/>
          <p:cNvSpPr/>
          <p:nvPr/>
        </p:nvSpPr>
        <p:spPr bwMode="auto">
          <a:xfrm>
            <a:off x="4279392" y="25740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200"/>
          </a:p>
        </p:txBody>
      </p:sp>
      <p:sp>
        <p:nvSpPr>
          <p:cNvPr id="2142763394" name="Shape 27"/>
          <p:cNvSpPr/>
          <p:nvPr/>
        </p:nvSpPr>
        <p:spPr bwMode="auto">
          <a:xfrm>
            <a:off x="3099816" y="327355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8685070" name="Text 28"/>
          <p:cNvSpPr/>
          <p:nvPr/>
        </p:nvSpPr>
        <p:spPr bwMode="auto">
          <a:xfrm>
            <a:off x="3099816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200"/>
          </a:p>
        </p:txBody>
      </p:sp>
      <p:sp>
        <p:nvSpPr>
          <p:cNvPr id="912850118" name="Shape 29"/>
          <p:cNvSpPr/>
          <p:nvPr/>
        </p:nvSpPr>
        <p:spPr bwMode="auto">
          <a:xfrm>
            <a:off x="4599432" y="39456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20875768" name="Text 30"/>
          <p:cNvSpPr/>
          <p:nvPr/>
        </p:nvSpPr>
        <p:spPr bwMode="auto">
          <a:xfrm>
            <a:off x="4599432" y="39456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200"/>
          </a:p>
        </p:txBody>
      </p:sp>
      <p:sp>
        <p:nvSpPr>
          <p:cNvPr id="786424136" name="Text 31"/>
          <p:cNvSpPr/>
          <p:nvPr/>
        </p:nvSpPr>
        <p:spPr bwMode="auto">
          <a:xfrm>
            <a:off x="3429000" y="17922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5F5E5A"/>
                </a:solidFill>
                <a:latin typeface="Calibri"/>
                <a:ea typeface="Calibri"/>
                <a:cs typeface="Calibri"/>
              </a:rPr>
              <a:t>Change / trace date</a:t>
            </a:r>
            <a:endParaRPr lang="en-US" sz="950"/>
          </a:p>
        </p:txBody>
      </p:sp>
      <p:sp>
        <p:nvSpPr>
          <p:cNvPr id="1938812635" name="Shape 19"/>
          <p:cNvSpPr/>
          <p:nvPr/>
        </p:nvSpPr>
        <p:spPr bwMode="auto">
          <a:xfrm flipH="0" flipV="1">
            <a:off x="3246119" y="1737360"/>
            <a:ext cx="0" cy="594359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820083" name="Text 0"/>
          <p:cNvSpPr/>
          <p:nvPr/>
        </p:nvSpPr>
        <p:spPr bwMode="auto"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26251F"/>
                </a:solidFill>
                <a:latin typeface="Cambria"/>
                <a:ea typeface="Cambria"/>
                <a:cs typeface="Cambria"/>
              </a:rPr>
              <a:t>Proposed architecture — notes &amp; volume</a:t>
            </a:r>
            <a:endParaRPr lang="en-US" sz="2400"/>
          </a:p>
        </p:txBody>
      </p:sp>
      <p:sp>
        <p:nvSpPr>
          <p:cNvPr id="358144000" name="Text 1"/>
          <p:cNvSpPr/>
          <p:nvPr/>
        </p:nvSpPr>
        <p:spPr bwMode="auto">
          <a:xfrm>
            <a:off x="457200" y="960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Flow notes</a:t>
            </a:r>
            <a:endParaRPr lang="en-US" sz="1500"/>
          </a:p>
        </p:txBody>
      </p:sp>
      <p:sp>
        <p:nvSpPr>
          <p:cNvPr id="1799064285" name="Text 2"/>
          <p:cNvSpPr/>
          <p:nvPr/>
        </p:nvSpPr>
        <p:spPr bwMode="auto">
          <a:xfrm>
            <a:off x="457200" y="1298448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❶"/>
              <a:defRPr/>
            </a:pPr>
            <a:r>
              <a:rPr lang="en-US" sz="135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Autosys triggers the MonetaBoot/Java application on schedule</a:t>
            </a:r>
            <a:endParaRPr lang="en-US" sz="135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❷"/>
              <a:defRPr/>
            </a:pPr>
            <a:r>
              <a:rPr lang="en-US" sz="135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Application pulls change data from the Sybase Database</a:t>
            </a:r>
            <a:endParaRPr lang="en-US" sz="135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❸"/>
              <a:defRPr/>
            </a:pPr>
            <a:r>
              <a:rPr lang="en-US" sz="135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Data is loaded into the staging table (FRWRDR)</a:t>
            </a:r>
            <a:endParaRPr lang="en-US" sz="135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❹"/>
              <a:defRPr/>
            </a:pPr>
            <a:r>
              <a:rPr lang="en-US" sz="135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Application hands off to DSF Stored Procedures</a:t>
            </a:r>
            <a:endParaRPr lang="en-US" sz="135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❺"/>
              <a:defRPr/>
            </a:pPr>
            <a:r>
              <a:rPr lang="en-US" sz="135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Stored procedures apply the final data into REFDBO</a:t>
            </a:r>
            <a:endParaRPr lang="en-US" sz="1350"/>
          </a:p>
        </p:txBody>
      </p:sp>
      <p:sp>
        <p:nvSpPr>
          <p:cNvPr id="620011896" name="Text 3"/>
          <p:cNvSpPr/>
          <p:nvPr/>
        </p:nvSpPr>
        <p:spPr bwMode="auto">
          <a:xfrm>
            <a:off x="4892039" y="960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85041"/>
                </a:solidFill>
                <a:latin typeface="Cambria"/>
                <a:ea typeface="Cambria"/>
                <a:cs typeface="Cambria"/>
              </a:rPr>
              <a:t>Estimated daily volume (row count)</a:t>
            </a:r>
            <a:endParaRPr lang="en-US" sz="1500"/>
          </a:p>
        </p:txBody>
      </p:sp>
      <p:graphicFrame>
        <p:nvGraphicFramePr>
          <p:cNvPr id="1107417426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892039" y="1298448"/>
          <a:ext cx="379476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514600"/>
                <a:gridCol w="1280160"/>
              </a:tblGrid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Row count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0F6E56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EXCHANGE_IMNT_ALTERNATE_ID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2,163,588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GRD_INSTRUMENT_EVENT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E1F5EE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LISTED_INSTRUMENT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51,297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INSTRUMENT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240,756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E1F5EE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IR_INSTRUMENT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1,141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IR_INSTRUMENT_FLAG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100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E1F5EE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CODE_VALUES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213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INSTRUMENT_LINK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5,567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38512" name="Text 0"/>
          <p:cNvSpPr/>
          <p:nvPr/>
        </p:nvSpPr>
        <p:spPr bwMode="auto"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6251F"/>
                </a:solidFill>
                <a:latin typeface="Cambria"/>
                <a:ea typeface="Cambria"/>
                <a:cs typeface="Cambria"/>
              </a:rPr>
              <a:t>Design decisions &amp; comments</a:t>
            </a:r>
            <a:endParaRPr lang="en-US" sz="2600"/>
          </a:p>
        </p:txBody>
      </p:sp>
      <p:graphicFrame>
        <p:nvGraphicFramePr>
          <p:cNvPr id="1064385949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914400"/>
          <a:ext cx="822960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457200"/>
                <a:gridCol w="2651760"/>
                <a:gridCol w="5120640"/>
              </a:tblGrid>
              <a:tr h="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Design decision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Comments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MonetaBoot/Java as the implementation stack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Enterprise-standard stack, better long-term maintainability, strong support for JDBC/transactions, handles multithreading very well, and higher performance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Autosys used for scheduling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Existing enterprise scheduler already in use org-wide — avoids reinventing scheduling/monitoring, gives ops team a familiar control point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Staging table used as temp/buffer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Acts as a checkpoint before final load — allows validation, retry, and reprocessing without touching production tables directly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DSF stored procedures used for the final load into REFDBO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Performs a full load on the first run, then processes only delta (changed) rows on subsequent runs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1EFE8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Batch/scheduled processing model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26251F"/>
                          </a:solidFill>
                          <a:latin typeface="Calibri"/>
                          <a:ea typeface="Calibri"/>
                          <a:cs typeface="Calibri"/>
                        </a:rPr>
                        <a:t>Simpler to build and troubleshoot than real-time CDC, without the added cost and complexity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3D1C7"/>
                      </a:solidFill>
                    </a:lnL>
                    <a:lnR w="6350" algn="ctr">
                      <a:solidFill>
                        <a:srgbClr val="D3D1C7"/>
                      </a:solidFill>
                    </a:lnR>
                    <a:lnT w="6350" algn="ctr">
                      <a:solidFill>
                        <a:srgbClr val="D3D1C7"/>
                      </a:solidFill>
                    </a:lnT>
                    <a:lnB w="6350" algn="ctr">
                      <a:solidFill>
                        <a:srgbClr val="D3D1C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997609" name="Text 0"/>
          <p:cNvSpPr/>
          <p:nvPr/>
        </p:nvSpPr>
        <p:spPr bwMode="auto"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6251F"/>
                </a:solidFill>
                <a:latin typeface="Cambria"/>
                <a:ea typeface="Cambria"/>
                <a:cs typeface="Cambria"/>
              </a:rPr>
              <a:t>Pending development</a:t>
            </a:r>
            <a:endParaRPr lang="en-US" sz="2600"/>
          </a:p>
        </p:txBody>
      </p:sp>
      <p:sp>
        <p:nvSpPr>
          <p:cNvPr id="1922891579" name="Shape 1"/>
          <p:cNvSpPr/>
          <p:nvPr/>
        </p:nvSpPr>
        <p:spPr bwMode="auto">
          <a:xfrm>
            <a:off x="457200" y="1234440"/>
            <a:ext cx="384048" cy="384048"/>
          </a:xfrm>
          <a:prstGeom prst="ellipse">
            <a:avLst/>
          </a:prstGeom>
          <a:solidFill>
            <a:srgbClr val="EEEDFE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945395769" name="Text 2"/>
          <p:cNvSpPr/>
          <p:nvPr/>
        </p:nvSpPr>
        <p:spPr bwMode="auto"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26215C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500"/>
          </a:p>
        </p:txBody>
      </p:sp>
      <p:sp>
        <p:nvSpPr>
          <p:cNvPr id="1315523469" name="Text 3"/>
          <p:cNvSpPr/>
          <p:nvPr/>
        </p:nvSpPr>
        <p:spPr bwMode="auto">
          <a:xfrm>
            <a:off x="960120" y="1234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26215C"/>
                </a:solidFill>
                <a:latin typeface="Cambria"/>
                <a:ea typeface="Cambria"/>
                <a:cs typeface="Cambria"/>
              </a:rPr>
              <a:t>Items before go-live</a:t>
            </a:r>
            <a:endParaRPr lang="en-US" sz="1700"/>
          </a:p>
        </p:txBody>
      </p:sp>
      <p:sp>
        <p:nvSpPr>
          <p:cNvPr id="1477232943" name="Text 4"/>
          <p:cNvSpPr/>
          <p:nvPr/>
        </p:nvSpPr>
        <p:spPr bwMode="auto">
          <a:xfrm>
            <a:off x="685800" y="17373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45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Telemetry integration</a:t>
            </a:r>
            <a:endParaRPr lang="en-US" sz="145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45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Dry run with SRE</a:t>
            </a:r>
            <a:endParaRPr lang="en-US" sz="145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45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Data validation</a:t>
            </a:r>
            <a:endParaRPr lang="en-US" sz="145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45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Email notification system</a:t>
            </a:r>
            <a:endParaRPr lang="en-US" sz="1450"/>
          </a:p>
        </p:txBody>
      </p:sp>
      <p:sp>
        <p:nvSpPr>
          <p:cNvPr id="364171737" name="Shape 5"/>
          <p:cNvSpPr/>
          <p:nvPr/>
        </p:nvSpPr>
        <p:spPr bwMode="auto">
          <a:xfrm>
            <a:off x="457200" y="3246120"/>
            <a:ext cx="8229600" cy="0"/>
          </a:xfrm>
          <a:prstGeom prst="line">
            <a:avLst/>
          </a:prstGeom>
          <a:noFill/>
          <a:ln w="12700">
            <a:solidFill>
              <a:srgbClr val="D3D1C7"/>
            </a:solidFill>
            <a:prstDash val="solid"/>
          </a:ln>
        </p:spPr>
      </p:sp>
      <p:sp>
        <p:nvSpPr>
          <p:cNvPr id="652823475" name="Shape 6"/>
          <p:cNvSpPr/>
          <p:nvPr/>
        </p:nvSpPr>
        <p:spPr bwMode="auto">
          <a:xfrm>
            <a:off x="457200" y="342900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09709362" name="Text 7"/>
          <p:cNvSpPr/>
          <p:nvPr/>
        </p:nvSpPr>
        <p:spPr bwMode="auto"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500"/>
          </a:p>
        </p:txBody>
      </p:sp>
      <p:sp>
        <p:nvSpPr>
          <p:cNvPr id="1550817895" name="Text 8"/>
          <p:cNvSpPr/>
          <p:nvPr/>
        </p:nvSpPr>
        <p:spPr bwMode="auto">
          <a:xfrm>
            <a:off x="960120" y="3429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Future development</a:t>
            </a:r>
            <a:endParaRPr lang="en-US" sz="1700"/>
          </a:p>
        </p:txBody>
      </p:sp>
      <p:sp>
        <p:nvSpPr>
          <p:cNvPr id="1997089357" name="Text 9"/>
          <p:cNvSpPr/>
          <p:nvPr/>
        </p:nvSpPr>
        <p:spPr bwMode="auto">
          <a:xfrm>
            <a:off x="685800" y="39136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450">
                <a:solidFill>
                  <a:srgbClr val="26251F"/>
                </a:solidFill>
                <a:latin typeface="Calibri"/>
                <a:ea typeface="Calibri"/>
                <a:cs typeface="Calibri"/>
              </a:rPr>
              <a:t>S3 bucket integration</a:t>
            </a:r>
            <a:endParaRPr lang="en-US" sz="14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319453" name="Text 2"/>
          <p:cNvSpPr/>
          <p:nvPr/>
        </p:nvSpPr>
        <p:spPr bwMode="auto">
          <a:xfrm>
            <a:off x="0" y="1874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  <a:endParaRPr lang="en-US" sz="3800"/>
          </a:p>
        </p:txBody>
      </p:sp>
      <p:sp>
        <p:nvSpPr>
          <p:cNvPr id="1690670007" name="Text 3"/>
          <p:cNvSpPr/>
          <p:nvPr/>
        </p:nvSpPr>
        <p:spPr bwMode="auto">
          <a:xfrm>
            <a:off x="0" y="25420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 and discussion</a:t>
            </a:r>
            <a:endParaRPr lang="en-US" sz="1600"/>
          </a:p>
        </p:txBody>
      </p:sp>
      <p:sp>
        <p:nvSpPr>
          <p:cNvPr id="1704943193" name="Text 4"/>
          <p:cNvSpPr/>
          <p:nvPr/>
        </p:nvSpPr>
        <p:spPr bwMode="auto">
          <a:xfrm>
            <a:off x="0" y="3108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RDR-CERD-CORPORATE Replication System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RDR-CERD-CORPORATE Replication System</dc:title>
  <dc:subject>PptxGenJS Presentation</dc:subject>
  <dc:creator>RDR-CERD-CORPORATE Project</dc:creator>
  <cp:lastModifiedBy/>
  <cp:revision>2</cp:revision>
  <dcterms:created xsi:type="dcterms:W3CDTF">2026-07-06T03:11:28Z</dcterms:created>
  <dcterms:modified xsi:type="dcterms:W3CDTF">2026-07-06T03:28:33Z</dcterms:modified>
</cp:coreProperties>
</file>