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6" r:id="rId2"/>
    <p:sldId id="257" r:id="rId8"/>
    <p:sldId id="259" r:id="rId10"/>
    <p:sldId id="260" r:id="rId11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1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906000" y="-731520"/>
            <a:ext cx="3200400" cy="3200400"/>
          </a:xfrm>
          <a:prstGeom prst="ellipse">
            <a:avLst/>
          </a:prstGeom>
          <a:solidFill>
            <a:srgbClr val="2A3A8C">
              <a:alpha val="60000"/>
            </a:srgbClr>
          </a:solidFill>
          <a:ln>
            <a:noFill/>
          </a:ln>
        </p:spPr>
      </p:sp>
      <p:sp>
        <p:nvSpPr>
          <p:cNvPr id="3" name="Oval 2"/>
          <p:cNvSpPr/>
          <p:nvPr/>
        </p:nvSpPr>
        <p:spPr>
          <a:xfrm>
            <a:off x="10515600" y="2743200"/>
            <a:ext cx="1828800" cy="1828800"/>
          </a:xfrm>
          <a:prstGeom prst="ellipse">
            <a:avLst/>
          </a:prstGeom>
          <a:solidFill>
            <a:srgbClr val="3A50B0">
              <a:alpha val="50000"/>
            </a:srgbClr>
          </a:solidFill>
          <a:ln>
            <a:noFill/>
          </a:ln>
        </p:spPr>
      </p:sp>
      <p:sp>
        <p:nvSpPr>
          <p:cNvPr id="4" name="Oval 3"/>
          <p:cNvSpPr/>
          <p:nvPr/>
        </p:nvSpPr>
        <p:spPr>
          <a:xfrm>
            <a:off x="-914400" y="4114800"/>
            <a:ext cx="2514600" cy="2514600"/>
          </a:xfrm>
          <a:prstGeom prst="ellipse">
            <a:avLst/>
          </a:prstGeom>
          <a:solidFill>
            <a:srgbClr val="2A3A8C">
              <a:alpha val="50000"/>
            </a:srgbClr>
          </a:solidFill>
          <a:ln>
            <a:noFill/>
          </a:ln>
        </p:spPr>
      </p:sp>
      <p:sp>
        <p:nvSpPr>
          <p:cNvPr id="5" name="Tag Box"/>
          <p:cNvSpPr/>
          <p:nvPr/>
        </p:nvSpPr>
        <p:spPr>
          <a:xfrm>
            <a:off x="914400" y="2286000"/>
            <a:ext cx="2621280" cy="32004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REPLICATION OVERVIEW</a:t>
            </a:r>
            <a:endParaRPr lang="en-US" sz="1100" dirty="0"/>
          </a:p>
        </p:txBody>
      </p:sp>
      <p:sp>
        <p:nvSpPr>
          <p:cNvPr id="6" name="Title"/>
          <p:cNvSpPr/>
          <p:nvPr/>
        </p:nvSpPr>
        <p:spPr>
          <a:xfrm>
            <a:off x="914400" y="2733675"/>
            <a:ext cx="8686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RDR-CERD-CORPORATE</a:t>
            </a:r>
            <a:endParaRPr lang="en-US" sz="4400" b="1" dirty="0">
              <a:solidFill>
                <a:srgbClr val="FFFFFF"/>
              </a:solidFill>
            </a:endParaRPr>
          </a:p>
        </p:txBody>
      </p:sp>
      <p:sp>
        <p:nvSpPr>
          <p:cNvPr id="7" name="Subtitle"/>
          <p:cNvSpPr/>
          <p:nvPr/>
        </p:nvSpPr>
        <p:spPr>
          <a:xfrm>
            <a:off x="914400" y="37719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System</a:t>
            </a:r>
            <a:endParaRPr lang="en-US" sz="2800" dirty="0">
              <a:solidFill>
                <a:srgbClr val="CADCFC"/>
              </a:solidFill>
            </a:endParaRPr>
          </a:p>
        </p:txBody>
      </p:sp>
      <p:sp>
        <p:nvSpPr>
          <p:cNvPr id="8" name="Description"/>
          <p:cNvSpPr/>
          <p:nvPr/>
        </p:nvSpPr>
        <p:spPr>
          <a:xfrm>
            <a:off x="914400" y="4587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A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Sybase to Oracle data flow &amp; corporate reference data synchronization</a:t>
            </a:r>
            <a:endParaRPr lang="en-US" sz="1400" dirty="0">
              <a:solidFill>
                <a:srgbClr val="AABFE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RDR-CERD-CORPORATE Replication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474720" cy="5394960"/>
          </a:xfrm>
          <a:prstGeom prst="roundRect">
            <a:avLst>
              <a:gd name="adj" fmla="val 2105"/>
            </a:avLst>
          </a:prstGeom>
          <a:solidFill>
            <a:srgbClr val="EBF4FC"/>
          </a:solidFill>
          <a:ln w="15240">
            <a:solidFill>
              <a:srgbClr val="185FA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0" y="868680"/>
            <a:ext cx="3474720" cy="5394960"/>
          </a:xfrm>
          <a:prstGeom prst="roundRect">
            <a:avLst>
              <a:gd name="adj" fmla="val 2105"/>
            </a:avLst>
          </a:prstGeom>
          <a:solidFill>
            <a:srgbClr val="F0EEF9"/>
          </a:solidFill>
          <a:ln w="15240">
            <a:solidFill>
              <a:srgbClr val="534AB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343400" y="9601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321040" y="868680"/>
            <a:ext cx="3474720" cy="5394960"/>
          </a:xfrm>
          <a:prstGeom prst="roundRect">
            <a:avLst>
              <a:gd name="adj" fmla="val 2105"/>
            </a:avLst>
          </a:prstGeom>
          <a:solidFill>
            <a:srgbClr val="FDF0EC"/>
          </a:solidFill>
          <a:ln w="15240">
            <a:solidFill>
              <a:srgbClr val="993C1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321040" y="9601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344168"/>
            <a:ext cx="3200400" cy="1408176"/>
          </a:xfrm>
          <a:prstGeom prst="roundRect">
            <a:avLst>
              <a:gd name="adj" fmla="val 3896"/>
            </a:avLst>
          </a:prstGeom>
          <a:solidFill>
            <a:srgbClr val="D6E8F7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344168"/>
            <a:ext cx="3200400" cy="14081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Sybase ASE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008376"/>
            <a:ext cx="3200400" cy="1408176"/>
          </a:xfrm>
          <a:prstGeom prst="roundRect">
            <a:avLst>
              <a:gd name="adj" fmla="val 3896"/>
            </a:avLst>
          </a:prstGeom>
          <a:solidFill>
            <a:srgbClr val="C8EBE0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08376"/>
            <a:ext cx="3200400" cy="14081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syslogs table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672584"/>
            <a:ext cx="3200400" cy="1408176"/>
          </a:xfrm>
          <a:prstGeom prst="roundRect">
            <a:avLst>
              <a:gd name="adj" fmla="val 3896"/>
            </a:avLst>
          </a:prstGeom>
          <a:solidFill>
            <a:srgbClr val="C8EBE0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672584"/>
            <a:ext cx="3200400" cy="14081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reader / CDC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capture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03120" y="2779776"/>
            <a:ext cx="0" cy="201168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2157984" y="27889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03120" y="4443984"/>
            <a:ext cx="0" cy="201168"/>
          </a:xfrm>
          <a:prstGeom prst="line">
            <a:avLst/>
          </a:prstGeom>
          <a:noFill/>
          <a:ln w="19050">
            <a:solidFill>
              <a:srgbClr val="0F6E56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2157984" y="44531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0560" y="2007291"/>
            <a:ext cx="3200400" cy="3410346"/>
          </a:xfrm>
          <a:prstGeom prst="roundRect">
            <a:avLst>
              <a:gd name="adj" fmla="val 1714"/>
            </a:avLst>
          </a:prstGeom>
          <a:solidFill>
            <a:srgbClr val="DDD9F5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2007291"/>
            <a:ext cx="3200400" cy="341034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route changes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58200" y="2007291"/>
            <a:ext cx="3200400" cy="3410346"/>
          </a:xfrm>
          <a:prstGeom prst="roundRect">
            <a:avLst>
              <a:gd name="adj" fmla="val 1714"/>
            </a:avLst>
          </a:prstGeom>
          <a:solidFill>
            <a:srgbClr val="F5CEBE"/>
          </a:solidFill>
          <a:ln w="12700">
            <a:solidFill>
              <a:srgbClr val="993C1D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58200" y="2007291"/>
            <a:ext cx="3200400" cy="341034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database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0" y="5376672"/>
            <a:ext cx="5029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3712464"/>
            <a:ext cx="0" cy="166420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3712464"/>
            <a:ext cx="155448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3840480" y="35112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18120" y="3712464"/>
            <a:ext cx="502920" cy="0"/>
          </a:xfrm>
          <a:prstGeom prst="line">
            <a:avLst/>
          </a:prstGeom>
          <a:noFill/>
          <a:ln w="25400">
            <a:solidFill>
              <a:srgbClr val="993C1D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7818120" y="35112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64922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6E8F7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" y="6492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(Sybase)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71900" y="64922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8EBE0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9644" y="6492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CDC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12280" y="64922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DD9F5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0024" y="6492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agent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852660" y="64922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5CEBE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90404" y="6492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(Oracle)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RDR-CERD-CORPORATE Replication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217920" y="1554480"/>
            <a:ext cx="2286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0" y="1554480"/>
            <a:ext cx="22860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Sysbase Database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3474720"/>
            <a:ext cx="2286000" cy="1051560"/>
          </a:xfrm>
          <a:prstGeom prst="rect">
            <a:avLst/>
          </a:prstGeom>
          <a:solidFill>
            <a:srgbClr val="854F0B"/>
          </a:solidFill>
          <a:ln w="12700">
            <a:solidFill>
              <a:srgbClr val="6338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3474720"/>
            <a:ext cx="22860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Autosys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0" y="3474720"/>
            <a:ext cx="22860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0C447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3474720"/>
            <a:ext cx="22860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SpringBoot/Java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3474720"/>
            <a:ext cx="2286000" cy="1051560"/>
          </a:xfrm>
          <a:prstGeom prst="rect">
            <a:avLst/>
          </a:prstGeom>
          <a:solidFill>
            <a:srgbClr val="0F6E56"/>
          </a:solidFill>
          <a:ln w="12700">
            <a:solidFill>
              <a:srgbClr val="08504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3474720"/>
            <a:ext cx="22860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data in the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 (FRWRDR)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5440680"/>
            <a:ext cx="2286000" cy="1051560"/>
          </a:xfrm>
          <a:prstGeom prst="rect">
            <a:avLst/>
          </a:prstGeom>
          <a:solidFill>
            <a:srgbClr val="534AB7"/>
          </a:solidFill>
          <a:ln w="12700">
            <a:solidFill>
              <a:srgbClr val="3C348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5440680"/>
            <a:ext cx="22860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DSF Stored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0" y="5440680"/>
            <a:ext cx="2286000" cy="1051560"/>
          </a:xfrm>
          <a:prstGeom prst="rect">
            <a:avLst/>
          </a:prstGeom>
          <a:solidFill>
            <a:srgbClr val="993C1D"/>
          </a:solidFill>
          <a:ln w="12700">
            <a:solidFill>
              <a:srgbClr val="712B1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0" y="5440680"/>
            <a:ext cx="228600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REFDBO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60320" y="4000500"/>
            <a:ext cx="548640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633472" y="3799332"/>
            <a:ext cx="402336" cy="402336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37993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2080260"/>
            <a:ext cx="0" cy="139446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2080260"/>
            <a:ext cx="1965960" cy="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4343400" y="18059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Since 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33772" y="1879092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3772" y="1879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2080260"/>
            <a:ext cx="0" cy="13944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394960" y="4000500"/>
            <a:ext cx="822960" cy="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5605272" y="3799332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5272" y="37993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4526280"/>
            <a:ext cx="0" cy="144018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51960" y="5966460"/>
            <a:ext cx="1965960" cy="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5033772" y="5765292"/>
            <a:ext cx="402336" cy="40233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33772" y="57652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5966460"/>
            <a:ext cx="109728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8851392" y="5765292"/>
            <a:ext cx="402336" cy="40233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51392" y="57652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RDR-CERD-CORPORATE Replication System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600" cy="531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50000"/>
                <a:gridCol w="4647420"/>
                <a:gridCol w="5680180"/>
              </a:tblGrid>
              <a:tr h="758571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91440" marR="9144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91440" marR="9144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Comments</a:t>
                      </a:r>
                    </a:p>
                  </a:txBody>
                  <a:tcPr marL="91440" marR="91440" anchor="ctr">
                    <a:solidFill>
                      <a:srgbClr val="1E2761"/>
                    </a:solidFill>
                  </a:tcPr>
                </a:tc>
              </a:tr>
              <a:tr h="758571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F3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8571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F3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EBF4FC"/>
                    </a:solidFill>
                  </a:tcPr>
                </a:tc>
              </a:tr>
              <a:tr h="758571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F3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8571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F3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EBF4FC"/>
                    </a:solidFill>
                  </a:tcPr>
                </a:tc>
              </a:tr>
              <a:tr h="758571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F3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857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F3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EB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RDR-CERD-CORPORATE Replication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0100"/>
            <a:ext cx="4000000" cy="32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Calibri"/>
              </a:rPr>
              <a:t>Migration Process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00150"/>
          <a:ext cx="11277600" cy="5165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7772400"/>
                <a:gridCol w="900000"/>
                <a:gridCol w="20565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ENV</a:t>
                      </a:r>
                    </a:p>
                  </a:txBody>
                  <a:tcPr marL="64008" marR="64008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Comments</a:t>
                      </a:r>
                    </a:p>
                  </a:txBody>
                  <a:tcPr marL="64008" marR="64008" marT="18288" marB="18288" anchor="ctr">
                    <a:solidFill>
                      <a:srgbClr val="1E2761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Deploy Replication Application (Java/SpringBoot)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Prod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Deploy DDL (staging tables, ztables, redbo tables, grants) (without Indexes)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Prod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Confirm all ddl are created correctly in prod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Prod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Data Copy from cerdcorp tables in prod to refdbo from (Prod) env to (UAT)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Create and run recon script for the data copy uat to test data in uat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Create data copy for prod to prod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Create recon script for prod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Pause replication in production (note the date and time, as it's the starting point)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Start data copy for production env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Run recon validation for production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Deploy ddl for all the indexes in prod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Deploy log start date in production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Execute autosys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Monitor log in production</a:t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BF4FC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F3C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>Run recon in production (per time function, e.g. 2 hours, 6, 12 or 24)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F3C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2026-06-25T16:42:58Z</dcterms:created>
  <dcterms:modified xsi:type="dcterms:W3CDTF">2026-06-25T16:42:58Z</dcterms:modified>
</cp:coreProperties>
</file>